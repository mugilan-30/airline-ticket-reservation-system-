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c826525-4d4a-381b-0c69-8bed52599dcf}">
          <p14:sldIdLst>
            <p14:sldId id="256"/>
            <p14:sldId id="257"/>
            <p14:sldId id="258"/>
          </p14:sldIdLst>
        </p14:section>
        <p14:section name="The System" id="{bae385e9-4c73-e515-d0ed-5a4153449bb3}">
          <p14:sldIdLst>
            <p14:sldId id="259"/>
            <p14:sldId id="260"/>
            <p14:sldId id="261"/>
            <p14:sldId id="262"/>
            <p14:sldId id="263"/>
          </p14:sldIdLst>
        </p14:section>
        <p14:section name="Results" id="{3d600a35-bcc4-2440-0522-467952b4d0e6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Airline Ticket Reservation System built during a 30-day internship at Fantasy Solution, Trichy.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in one line what the app does, then the four main goals: secure login, easy search, live seat info and admin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manual booking (slow, error-prone, scattered records) with the proposed centralized online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passengers and admins both talk to the system process, which reads and writes one central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features that cover the full journey from signing in to getting a ticket.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Role-based access keeps the system secure: passengers only see booking features, admins manage flights and bookings.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easy steps. The key point: the seat count is updated right after booking, which prevents overbooking.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backend exposes six simple REST routes, each handling one part of the reservation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finished app is called AirService. It has passenger, admin and customer service screens, with ticket lookup by PNR.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the system meets its goals. Next steps are a mobile app, real payments, QR e-tickets, live flight updates and notifications.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3C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484632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INTERNSHIP PROJECT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Airline Ticket Reservation System</a:t>
            </a:r>
            <a:endParaRPr lang="en-US" sz="34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3108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 simple web app to search, book and manage flight tickets</a:t>
            </a:r>
            <a:endParaRPr lang="en-US" sz="1600" dirty="0"/>
          </a:p>
        </p:txBody>
      </p:sp>
      <p:sp>
        <p:nvSpPr>
          <p:cNvPr id="5" name="Presenter"/>
          <p:cNvSpPr txBox="1"/>
          <p:nvPr/>
        </p:nvSpPr>
        <p:spPr>
          <a:xfrm>
            <a:off x="548640" y="4206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Akshaya Sivan  |  Fantasy Solution, Tiruchirappalli</a:t>
            </a:r>
            <a:endParaRPr lang="en-US" sz="1400" dirty="0"/>
          </a:p>
        </p:txBody>
      </p:sp>
      <p:sp>
        <p:nvSpPr>
          <p:cNvPr id="6" name="Ring outer"/>
          <p:cNvSpPr/>
          <p:nvPr/>
        </p:nvSpPr>
        <p:spPr>
          <a:xfrm>
            <a:off x="5394960" y="914400"/>
            <a:ext cx="3291840" cy="329184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7" name="Ring middle"/>
          <p:cNvSpPr/>
          <p:nvPr/>
        </p:nvSpPr>
        <p:spPr>
          <a:xfrm>
            <a:off x="5852160" y="1371600"/>
            <a:ext cx="2377440" cy="2377440"/>
          </a:xfrm>
          <a:prstGeom prst="ellipse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8" name="Cover plane circle"/>
          <p:cNvSpPr/>
          <p:nvPr/>
        </p:nvSpPr>
        <p:spPr>
          <a:xfrm>
            <a:off x="6309360" y="1828800"/>
            <a:ext cx="1463040" cy="14630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Cover plane icon" descr="FaPla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19456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is this project?</a:t>
            </a:r>
            <a:endParaRPr lang="en-US" sz="3000" dirty="0"/>
          </a:p>
        </p:txBody>
      </p:sp>
      <p:sp>
        <p:nvSpPr>
          <p:cNvPr id="3" name="Intro text"/>
          <p:cNvSpPr txBox="1"/>
          <p:nvPr/>
        </p:nvSpPr>
        <p:spPr>
          <a:xfrm>
            <a:off x="457200" y="128016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web app where passengers search flights, book tickets and manage reservations online. Admins manage flights and seats from one place.</a:t>
            </a:r>
            <a:endParaRPr lang="en-US" sz="1600" dirty="0"/>
          </a:p>
        </p:txBody>
      </p:sp>
      <p:sp>
        <p:nvSpPr>
          <p:cNvPr id="4" name="Internship box"/>
          <p:cNvSpPr/>
          <p:nvPr/>
        </p:nvSpPr>
        <p:spPr>
          <a:xfrm>
            <a:off x="457200" y="3200400"/>
            <a:ext cx="36576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5" name="Internship circle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nternship icon" descr="FaLaptop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611880"/>
            <a:ext cx="274320" cy="274320"/>
          </a:xfrm>
          <a:prstGeom prst="rect">
            <a:avLst/>
          </a:prstGeom>
        </p:spPr>
      </p:pic>
      <p:sp>
        <p:nvSpPr>
          <p:cNvPr id="7" name="Internship text"/>
          <p:cNvSpPr txBox="1"/>
          <p:nvPr/>
        </p:nvSpPr>
        <p:spPr>
          <a:xfrm>
            <a:off x="1371600" y="33375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Built in a 30-day internship at Fantasy Solution, Trichy</a:t>
            </a:r>
            <a:endParaRPr lang="en-US" sz="1400" dirty="0"/>
          </a:p>
        </p:txBody>
      </p:sp>
      <p:sp>
        <p:nvSpPr>
          <p:cNvPr id="8" name="Objective card 1"/>
          <p:cNvSpPr/>
          <p:nvPr/>
        </p:nvSpPr>
        <p:spPr>
          <a:xfrm>
            <a:off x="4480560" y="1280160"/>
            <a:ext cx="2011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9" name="Objective 1 circle"/>
          <p:cNvSpPr/>
          <p:nvPr/>
        </p:nvSpPr>
        <p:spPr>
          <a:xfrm>
            <a:off x="461772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Objective 1 icon" descr="Fa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1531620"/>
            <a:ext cx="228600" cy="228600"/>
          </a:xfrm>
          <a:prstGeom prst="rect">
            <a:avLst/>
          </a:prstGeom>
        </p:spPr>
      </p:pic>
      <p:sp>
        <p:nvSpPr>
          <p:cNvPr id="11" name="Objective title 1"/>
          <p:cNvSpPr txBox="1"/>
          <p:nvPr/>
        </p:nvSpPr>
        <p:spPr>
          <a:xfrm>
            <a:off x="461772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Secure login</a:t>
            </a:r>
            <a:endParaRPr lang="en-US" sz="1400" dirty="0"/>
          </a:p>
        </p:txBody>
      </p:sp>
      <p:sp>
        <p:nvSpPr>
          <p:cNvPr id="12" name="Objective text 1"/>
          <p:cNvSpPr txBox="1"/>
          <p:nvPr/>
        </p:nvSpPr>
        <p:spPr>
          <a:xfrm>
            <a:off x="461772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Register and sign in safely</a:t>
            </a:r>
            <a:endParaRPr lang="en-US" sz="1200" dirty="0"/>
          </a:p>
        </p:txBody>
      </p:sp>
      <p:sp>
        <p:nvSpPr>
          <p:cNvPr id="13" name="Objective card 2"/>
          <p:cNvSpPr/>
          <p:nvPr/>
        </p:nvSpPr>
        <p:spPr>
          <a:xfrm>
            <a:off x="6675120" y="1280160"/>
            <a:ext cx="2011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4" name="Objective 2 circle"/>
          <p:cNvSpPr/>
          <p:nvPr/>
        </p:nvSpPr>
        <p:spPr>
          <a:xfrm>
            <a:off x="681228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Objective 2 icon" descr="Fa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580" y="1531620"/>
            <a:ext cx="228600" cy="228600"/>
          </a:xfrm>
          <a:prstGeom prst="rect">
            <a:avLst/>
          </a:prstGeom>
        </p:spPr>
      </p:pic>
      <p:sp>
        <p:nvSpPr>
          <p:cNvPr id="16" name="Objective title 2"/>
          <p:cNvSpPr txBox="1"/>
          <p:nvPr/>
        </p:nvSpPr>
        <p:spPr>
          <a:xfrm>
            <a:off x="681228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Easy search</a:t>
            </a:r>
            <a:endParaRPr lang="en-US" sz="1400" dirty="0"/>
          </a:p>
        </p:txBody>
      </p:sp>
      <p:sp>
        <p:nvSpPr>
          <p:cNvPr id="17" name="Objective text 2"/>
          <p:cNvSpPr txBox="1"/>
          <p:nvPr/>
        </p:nvSpPr>
        <p:spPr>
          <a:xfrm>
            <a:off x="681228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Find flights by route and date</a:t>
            </a:r>
            <a:endParaRPr lang="en-US" sz="1200" dirty="0"/>
          </a:p>
        </p:txBody>
      </p:sp>
      <p:sp>
        <p:nvSpPr>
          <p:cNvPr id="18" name="Objective card 3"/>
          <p:cNvSpPr/>
          <p:nvPr/>
        </p:nvSpPr>
        <p:spPr>
          <a:xfrm>
            <a:off x="4480560" y="2880360"/>
            <a:ext cx="2011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9" name="Objective 3 circle"/>
          <p:cNvSpPr/>
          <p:nvPr/>
        </p:nvSpPr>
        <p:spPr>
          <a:xfrm>
            <a:off x="461772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Objective 3 icon" descr="FaChai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020" y="3131820"/>
            <a:ext cx="228600" cy="228600"/>
          </a:xfrm>
          <a:prstGeom prst="rect">
            <a:avLst/>
          </a:prstGeom>
        </p:spPr>
      </p:pic>
      <p:sp>
        <p:nvSpPr>
          <p:cNvPr id="21" name="Objective title 3"/>
          <p:cNvSpPr txBox="1"/>
          <p:nvPr/>
        </p:nvSpPr>
        <p:spPr>
          <a:xfrm>
            <a:off x="461772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Live seats</a:t>
            </a:r>
            <a:endParaRPr lang="en-US" sz="1400" dirty="0"/>
          </a:p>
        </p:txBody>
      </p:sp>
      <p:sp>
        <p:nvSpPr>
          <p:cNvPr id="22" name="Objective text 3"/>
          <p:cNvSpPr txBox="1"/>
          <p:nvPr/>
        </p:nvSpPr>
        <p:spPr>
          <a:xfrm>
            <a:off x="4617720" y="3840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See free seats instantly</a:t>
            </a:r>
            <a:endParaRPr lang="en-US" sz="1200" dirty="0"/>
          </a:p>
        </p:txBody>
      </p:sp>
      <p:sp>
        <p:nvSpPr>
          <p:cNvPr id="23" name="Objective card 4"/>
          <p:cNvSpPr/>
          <p:nvPr/>
        </p:nvSpPr>
        <p:spPr>
          <a:xfrm>
            <a:off x="6675120" y="2880360"/>
            <a:ext cx="2011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24" name="Objective 4 circle"/>
          <p:cNvSpPr/>
          <p:nvPr/>
        </p:nvSpPr>
        <p:spPr>
          <a:xfrm>
            <a:off x="681228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Objective 4 icon" descr="FaUserShiel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580" y="3131820"/>
            <a:ext cx="228600" cy="228600"/>
          </a:xfrm>
          <a:prstGeom prst="rect">
            <a:avLst/>
          </a:prstGeom>
        </p:spPr>
      </p:pic>
      <p:sp>
        <p:nvSpPr>
          <p:cNvPr id="26" name="Objective title 4"/>
          <p:cNvSpPr txBox="1"/>
          <p:nvPr/>
        </p:nvSpPr>
        <p:spPr>
          <a:xfrm>
            <a:off x="681228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Admin control</a:t>
            </a:r>
            <a:endParaRPr lang="en-US" sz="1400" dirty="0"/>
          </a:p>
        </p:txBody>
      </p:sp>
      <p:sp>
        <p:nvSpPr>
          <p:cNvPr id="27" name="Objective text 4"/>
          <p:cNvSpPr txBox="1"/>
          <p:nvPr/>
        </p:nvSpPr>
        <p:spPr>
          <a:xfrm>
            <a:off x="6812280" y="3840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Manage flights and bookings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Why we need it</a:t>
            </a:r>
            <a:endParaRPr lang="en-US" sz="3000" dirty="0"/>
          </a:p>
        </p:txBody>
      </p:sp>
      <p:sp>
        <p:nvSpPr>
          <p:cNvPr id="3" name="Traditional way card"/>
          <p:cNvSpPr/>
          <p:nvPr/>
        </p:nvSpPr>
        <p:spPr>
          <a:xfrm>
            <a:off x="457200" y="1280160"/>
            <a:ext cx="3749040" cy="3017520"/>
          </a:xfrm>
          <a:prstGeom prst="roundRect">
            <a:avLst>
              <a:gd name="adj" fmla="val 3636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4" name="Traditional way circle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Traditional way icon" descr="FaTimes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577340"/>
            <a:ext cx="228600" cy="228600"/>
          </a:xfrm>
          <a:prstGeom prst="rect">
            <a:avLst/>
          </a:prstGeom>
        </p:spPr>
      </p:pic>
      <p:sp>
        <p:nvSpPr>
          <p:cNvPr id="6" name="Traditional way heading"/>
          <p:cNvSpPr txBox="1"/>
          <p:nvPr/>
        </p:nvSpPr>
        <p:spPr>
          <a:xfrm>
            <a:off x="1325880" y="1463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Traditional way</a:t>
            </a:r>
            <a:endParaRPr lang="en-US" sz="2000" dirty="0"/>
          </a:p>
        </p:txBody>
      </p:sp>
      <p:sp>
        <p:nvSpPr>
          <p:cNvPr id="7" name="Traditional way list"/>
          <p:cNvSpPr txBox="1"/>
          <p:nvPr/>
        </p:nvSpPr>
        <p:spPr>
          <a:xfrm>
            <a:off x="731520" y="219456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Slow, manual booking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Data-entry mistakes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Hard to track seats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Records kept in many places</a:t>
            </a:r>
            <a:endParaRPr lang="en-US" sz="1600" dirty="0"/>
          </a:p>
        </p:txBody>
      </p:sp>
      <p:sp>
        <p:nvSpPr>
          <p:cNvPr id="8" name="Our system card"/>
          <p:cNvSpPr/>
          <p:nvPr/>
        </p:nvSpPr>
        <p:spPr>
          <a:xfrm>
            <a:off x="4937760" y="1280160"/>
            <a:ext cx="3749040" cy="3017520"/>
          </a:xfrm>
          <a:prstGeom prst="roundRect">
            <a:avLst>
              <a:gd name="adj" fmla="val 3636"/>
            </a:avLst>
          </a:prstGeom>
          <a:solidFill>
            <a:schemeClr val="accent6">
              <a:alpha val="12000"/>
            </a:schemeClr>
          </a:solidFill>
          <a:ln/>
        </p:spPr>
      </p:sp>
      <p:sp>
        <p:nvSpPr>
          <p:cNvPr id="9" name="Our system circle"/>
          <p:cNvSpPr/>
          <p:nvPr/>
        </p:nvSpPr>
        <p:spPr>
          <a:xfrm>
            <a:off x="5212080" y="146304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Our system icon" descr="FaCheck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380" y="1577340"/>
            <a:ext cx="228600" cy="228600"/>
          </a:xfrm>
          <a:prstGeom prst="rect">
            <a:avLst/>
          </a:prstGeom>
        </p:spPr>
      </p:pic>
      <p:sp>
        <p:nvSpPr>
          <p:cNvPr id="11" name="Our system heading"/>
          <p:cNvSpPr txBox="1"/>
          <p:nvPr/>
        </p:nvSpPr>
        <p:spPr>
          <a:xfrm>
            <a:off x="5806440" y="1463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Our system</a:t>
            </a:r>
            <a:endParaRPr lang="en-US" sz="2000" dirty="0"/>
          </a:p>
        </p:txBody>
      </p:sp>
      <p:sp>
        <p:nvSpPr>
          <p:cNvPr id="12" name="Our system list"/>
          <p:cNvSpPr txBox="1"/>
          <p:nvPr/>
        </p:nvSpPr>
        <p:spPr>
          <a:xfrm>
            <a:off x="5212080" y="219456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Fast online booking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Fewer errors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Seats update automatically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All data in one place</a:t>
            </a:r>
            <a:endParaRPr lang="en-US" sz="1600" dirty="0"/>
          </a:p>
        </p:txBody>
      </p:sp>
      <p:sp>
        <p:nvSpPr>
          <p:cNvPr id="13" name="Arrow circle"/>
          <p:cNvSpPr/>
          <p:nvPr/>
        </p:nvSpPr>
        <p:spPr>
          <a:xfrm>
            <a:off x="4343400" y="26060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Arrow icon" descr="Fa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2720340"/>
            <a:ext cx="228600" cy="228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the system fits together</a:t>
            </a:r>
            <a:endParaRPr lang="en-US" sz="3000" dirty="0"/>
          </a:p>
        </p:txBody>
      </p:sp>
      <p:sp>
        <p:nvSpPr>
          <p:cNvPr id="3" name="Passenger box"/>
          <p:cNvSpPr/>
          <p:nvPr/>
        </p:nvSpPr>
        <p:spPr>
          <a:xfrm>
            <a:off x="457200" y="1234440"/>
            <a:ext cx="2377440" cy="288036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4" name="Passenger circle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assenger icon" descr="Fa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474470"/>
            <a:ext cx="205740" cy="205740"/>
          </a:xfrm>
          <a:prstGeom prst="rect">
            <a:avLst/>
          </a:prstGeom>
        </p:spPr>
      </p:pic>
      <p:sp>
        <p:nvSpPr>
          <p:cNvPr id="6" name="Passenger heading"/>
          <p:cNvSpPr txBox="1"/>
          <p:nvPr/>
        </p:nvSpPr>
        <p:spPr>
          <a:xfrm>
            <a:off x="1188720" y="1371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Passenger</a:t>
            </a:r>
            <a:endParaRPr lang="en-US" sz="1600" dirty="0"/>
          </a:p>
        </p:txBody>
      </p:sp>
      <p:sp>
        <p:nvSpPr>
          <p:cNvPr id="7" name="Passenger list"/>
          <p:cNvSpPr txBox="1"/>
          <p:nvPr/>
        </p:nvSpPr>
        <p:spPr>
          <a:xfrm>
            <a:off x="640080" y="2011680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Register &amp; login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Search flights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Book a ticket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View history</a:t>
            </a:r>
            <a:endParaRPr lang="en-US" sz="1400" dirty="0"/>
          </a:p>
        </p:txBody>
      </p:sp>
      <p:sp>
        <p:nvSpPr>
          <p:cNvPr id="8" name="System process box"/>
          <p:cNvSpPr/>
          <p:nvPr/>
        </p:nvSpPr>
        <p:spPr>
          <a:xfrm>
            <a:off x="3200400" y="1234440"/>
            <a:ext cx="2743200" cy="2880360"/>
          </a:xfrm>
          <a:prstGeom prst="roundRect">
            <a:avLst>
              <a:gd name="adj" fmla="val 4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9" name="System process circle"/>
          <p:cNvSpPr/>
          <p:nvPr/>
        </p:nvSpPr>
        <p:spPr>
          <a:xfrm>
            <a:off x="338328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System process icon" descr="FaCo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1474470"/>
            <a:ext cx="205740" cy="205740"/>
          </a:xfrm>
          <a:prstGeom prst="rect">
            <a:avLst/>
          </a:prstGeom>
        </p:spPr>
      </p:pic>
      <p:sp>
        <p:nvSpPr>
          <p:cNvPr id="11" name="System process heading"/>
          <p:cNvSpPr txBox="1"/>
          <p:nvPr/>
        </p:nvSpPr>
        <p:spPr>
          <a:xfrm>
            <a:off x="3931920" y="1371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System process</a:t>
            </a:r>
            <a:endParaRPr lang="en-US" sz="1600" dirty="0"/>
          </a:p>
        </p:txBody>
      </p:sp>
      <p:sp>
        <p:nvSpPr>
          <p:cNvPr id="12" name="System process list"/>
          <p:cNvSpPr txBox="1"/>
          <p:nvPr/>
        </p:nvSpPr>
        <p:spPr>
          <a:xfrm>
            <a:off x="3383280" y="201168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Login check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Flight management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Seat check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Booking &amp; payment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Ticket generation</a:t>
            </a:r>
            <a:endParaRPr lang="en-US" sz="1400" dirty="0"/>
          </a:p>
        </p:txBody>
      </p:sp>
      <p:sp>
        <p:nvSpPr>
          <p:cNvPr id="13" name="Admin box"/>
          <p:cNvSpPr/>
          <p:nvPr/>
        </p:nvSpPr>
        <p:spPr>
          <a:xfrm>
            <a:off x="6309360" y="1234440"/>
            <a:ext cx="2377440" cy="2880360"/>
          </a:xfrm>
          <a:prstGeom prst="roundRect">
            <a:avLst>
              <a:gd name="adj" fmla="val 4615"/>
            </a:avLst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14" name="Admin circle"/>
          <p:cNvSpPr/>
          <p:nvPr/>
        </p:nvSpPr>
        <p:spPr>
          <a:xfrm>
            <a:off x="649224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Admin icon" descr="FaUserShiel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110" y="1474470"/>
            <a:ext cx="205740" cy="205740"/>
          </a:xfrm>
          <a:prstGeom prst="rect">
            <a:avLst/>
          </a:prstGeom>
        </p:spPr>
      </p:pic>
      <p:sp>
        <p:nvSpPr>
          <p:cNvPr id="16" name="Admin heading"/>
          <p:cNvSpPr txBox="1"/>
          <p:nvPr/>
        </p:nvSpPr>
        <p:spPr>
          <a:xfrm>
            <a:off x="7040880" y="1371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Admin</a:t>
            </a:r>
            <a:endParaRPr lang="en-US" sz="1600" dirty="0"/>
          </a:p>
        </p:txBody>
      </p:sp>
      <p:sp>
        <p:nvSpPr>
          <p:cNvPr id="17" name="Admin list"/>
          <p:cNvSpPr txBox="1"/>
          <p:nvPr/>
        </p:nvSpPr>
        <p:spPr>
          <a:xfrm>
            <a:off x="6492240" y="2011680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 / update flights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Manage seats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View all bookings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Reports</a:t>
            </a:r>
            <a:endParaRPr lang="en-US" sz="1400" dirty="0"/>
          </a:p>
        </p:txBody>
      </p:sp>
      <p:sp>
        <p:nvSpPr>
          <p:cNvPr id="18" name="Arrow 3.1"/>
          <p:cNvSpPr/>
          <p:nvPr/>
        </p:nvSpPr>
        <p:spPr>
          <a:xfrm>
            <a:off x="2834640" y="2651760"/>
            <a:ext cx="36576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19" name="Arrow 6.5"/>
          <p:cNvSpPr/>
          <p:nvPr/>
        </p:nvSpPr>
        <p:spPr>
          <a:xfrm>
            <a:off x="5943600" y="2651760"/>
            <a:ext cx="36576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20" name="Arrow to database"/>
          <p:cNvSpPr/>
          <p:nvPr/>
        </p:nvSpPr>
        <p:spPr>
          <a:xfrm>
            <a:off x="4572000" y="4114800"/>
            <a:ext cx="0" cy="1828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Database bar"/>
          <p:cNvSpPr/>
          <p:nvPr/>
        </p:nvSpPr>
        <p:spPr>
          <a:xfrm>
            <a:off x="2286000" y="4297680"/>
            <a:ext cx="457200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22" name="Database label"/>
          <p:cNvSpPr txBox="1"/>
          <p:nvPr/>
        </p:nvSpPr>
        <p:spPr>
          <a:xfrm>
            <a:off x="2286000" y="4297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Database (MongoDB): users, flights, bookings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Main features</a:t>
            </a:r>
            <a:endParaRPr lang="en-US" sz="3000" dirty="0"/>
          </a:p>
        </p:txBody>
      </p:sp>
      <p:sp>
        <p:nvSpPr>
          <p:cNvPr id="3" name="Feature card 1"/>
          <p:cNvSpPr/>
          <p:nvPr/>
        </p:nvSpPr>
        <p:spPr>
          <a:xfrm>
            <a:off x="457200" y="123444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Feature 1 circle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eature 1 icon" descr="Fa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543050"/>
            <a:ext cx="251460" cy="251460"/>
          </a:xfrm>
          <a:prstGeom prst="rect">
            <a:avLst/>
          </a:prstGeom>
        </p:spPr>
      </p:pic>
      <p:sp>
        <p:nvSpPr>
          <p:cNvPr id="6" name="Feature title 1"/>
          <p:cNvSpPr txBox="1"/>
          <p:nvPr/>
        </p:nvSpPr>
        <p:spPr>
          <a:xfrm>
            <a:off x="128016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Register &amp; Login</a:t>
            </a:r>
            <a:endParaRPr lang="en-US" sz="1600" dirty="0"/>
          </a:p>
        </p:txBody>
      </p:sp>
      <p:sp>
        <p:nvSpPr>
          <p:cNvPr id="7" name="Feature text 1"/>
          <p:cNvSpPr txBox="1"/>
          <p:nvPr/>
        </p:nvSpPr>
        <p:spPr>
          <a:xfrm>
            <a:off x="640080" y="2057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Secure sign-in for passengers and admins</a:t>
            </a:r>
            <a:endParaRPr lang="en-US" sz="1200" dirty="0"/>
          </a:p>
        </p:txBody>
      </p:sp>
      <p:sp>
        <p:nvSpPr>
          <p:cNvPr id="8" name="Feature card 2"/>
          <p:cNvSpPr/>
          <p:nvPr/>
        </p:nvSpPr>
        <p:spPr>
          <a:xfrm>
            <a:off x="3291840" y="123444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9" name="Feature 2 circle"/>
          <p:cNvSpPr/>
          <p:nvPr/>
        </p:nvSpPr>
        <p:spPr>
          <a:xfrm>
            <a:off x="347472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eature 2 icon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1543050"/>
            <a:ext cx="251460" cy="251460"/>
          </a:xfrm>
          <a:prstGeom prst="rect">
            <a:avLst/>
          </a:prstGeom>
        </p:spPr>
      </p:pic>
      <p:sp>
        <p:nvSpPr>
          <p:cNvPr id="11" name="Feature title 2"/>
          <p:cNvSpPr txBox="1"/>
          <p:nvPr/>
        </p:nvSpPr>
        <p:spPr>
          <a:xfrm>
            <a:off x="411480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Flight Search</a:t>
            </a:r>
            <a:endParaRPr lang="en-US" sz="1600" dirty="0"/>
          </a:p>
        </p:txBody>
      </p:sp>
      <p:sp>
        <p:nvSpPr>
          <p:cNvPr id="12" name="Feature text 2"/>
          <p:cNvSpPr txBox="1"/>
          <p:nvPr/>
        </p:nvSpPr>
        <p:spPr>
          <a:xfrm>
            <a:off x="3474720" y="2057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Find flights by source, destination and date</a:t>
            </a:r>
            <a:endParaRPr lang="en-US" sz="1200" dirty="0"/>
          </a:p>
        </p:txBody>
      </p:sp>
      <p:sp>
        <p:nvSpPr>
          <p:cNvPr id="13" name="Feature card 3"/>
          <p:cNvSpPr/>
          <p:nvPr/>
        </p:nvSpPr>
        <p:spPr>
          <a:xfrm>
            <a:off x="6126480" y="123444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4" name="Feature 3 circle"/>
          <p:cNvSpPr/>
          <p:nvPr/>
        </p:nvSpPr>
        <p:spPr>
          <a:xfrm>
            <a:off x="630936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eature 3 icon" descr="FaCha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090" y="1543050"/>
            <a:ext cx="251460" cy="251460"/>
          </a:xfrm>
          <a:prstGeom prst="rect">
            <a:avLst/>
          </a:prstGeom>
        </p:spPr>
      </p:pic>
      <p:sp>
        <p:nvSpPr>
          <p:cNvPr id="16" name="Feature title 3"/>
          <p:cNvSpPr txBox="1"/>
          <p:nvPr/>
        </p:nvSpPr>
        <p:spPr>
          <a:xfrm>
            <a:off x="694944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Seat Check</a:t>
            </a:r>
            <a:endParaRPr lang="en-US" sz="1600" dirty="0"/>
          </a:p>
        </p:txBody>
      </p:sp>
      <p:sp>
        <p:nvSpPr>
          <p:cNvPr id="17" name="Feature text 3"/>
          <p:cNvSpPr txBox="1"/>
          <p:nvPr/>
        </p:nvSpPr>
        <p:spPr>
          <a:xfrm>
            <a:off x="6309360" y="2057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Shows free seats and stops double booking</a:t>
            </a:r>
            <a:endParaRPr lang="en-US" sz="1200" dirty="0"/>
          </a:p>
        </p:txBody>
      </p:sp>
      <p:sp>
        <p:nvSpPr>
          <p:cNvPr id="18" name="Feature card 4"/>
          <p:cNvSpPr/>
          <p:nvPr/>
        </p:nvSpPr>
        <p:spPr>
          <a:xfrm>
            <a:off x="457200" y="28803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9" name="Feature 4 circle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eature 4 icon" descr="FaTicket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188970"/>
            <a:ext cx="251460" cy="251460"/>
          </a:xfrm>
          <a:prstGeom prst="rect">
            <a:avLst/>
          </a:prstGeom>
        </p:spPr>
      </p:pic>
      <p:sp>
        <p:nvSpPr>
          <p:cNvPr id="21" name="Feature title 4"/>
          <p:cNvSpPr txBox="1"/>
          <p:nvPr/>
        </p:nvSpPr>
        <p:spPr>
          <a:xfrm>
            <a:off x="1280160" y="3063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Ticket Booking</a:t>
            </a:r>
            <a:endParaRPr lang="en-US" sz="1600" dirty="0"/>
          </a:p>
        </p:txBody>
      </p:sp>
      <p:sp>
        <p:nvSpPr>
          <p:cNvPr id="22" name="Feature text 4"/>
          <p:cNvSpPr txBox="1"/>
          <p:nvPr/>
        </p:nvSpPr>
        <p:spPr>
          <a:xfrm>
            <a:off x="640080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Enter details, pick a seat, confirm</a:t>
            </a:r>
            <a:endParaRPr lang="en-US" sz="1200" dirty="0"/>
          </a:p>
        </p:txBody>
      </p:sp>
      <p:sp>
        <p:nvSpPr>
          <p:cNvPr id="23" name="Feature card 5"/>
          <p:cNvSpPr/>
          <p:nvPr/>
        </p:nvSpPr>
        <p:spPr>
          <a:xfrm>
            <a:off x="3291840" y="28803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4" name="Feature 5 circle"/>
          <p:cNvSpPr/>
          <p:nvPr/>
        </p:nvSpPr>
        <p:spPr>
          <a:xfrm>
            <a:off x="3474720" y="3063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Feature 5 icon" descr="FaCreditCar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450" y="3188970"/>
            <a:ext cx="251460" cy="251460"/>
          </a:xfrm>
          <a:prstGeom prst="rect">
            <a:avLst/>
          </a:prstGeom>
        </p:spPr>
      </p:pic>
      <p:sp>
        <p:nvSpPr>
          <p:cNvPr id="26" name="Feature title 5"/>
          <p:cNvSpPr txBox="1"/>
          <p:nvPr/>
        </p:nvSpPr>
        <p:spPr>
          <a:xfrm>
            <a:off x="4114800" y="3063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Payment</a:t>
            </a:r>
            <a:endParaRPr lang="en-US" sz="1600" dirty="0"/>
          </a:p>
        </p:txBody>
      </p:sp>
      <p:sp>
        <p:nvSpPr>
          <p:cNvPr id="27" name="Feature text 5"/>
          <p:cNvSpPr txBox="1"/>
          <p:nvPr/>
        </p:nvSpPr>
        <p:spPr>
          <a:xfrm>
            <a:off x="3474720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Amount calculated, booking confirmed on success</a:t>
            </a:r>
            <a:endParaRPr lang="en-US" sz="1200" dirty="0"/>
          </a:p>
        </p:txBody>
      </p:sp>
      <p:sp>
        <p:nvSpPr>
          <p:cNvPr id="28" name="Feature card 6"/>
          <p:cNvSpPr/>
          <p:nvPr/>
        </p:nvSpPr>
        <p:spPr>
          <a:xfrm>
            <a:off x="6126480" y="28803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9" name="Feature 6 circle"/>
          <p:cNvSpPr/>
          <p:nvPr/>
        </p:nvSpPr>
        <p:spPr>
          <a:xfrm>
            <a:off x="6309360" y="3063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Feature 6 icon" descr="FaQrcod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5090" y="3188970"/>
            <a:ext cx="251460" cy="251460"/>
          </a:xfrm>
          <a:prstGeom prst="rect">
            <a:avLst/>
          </a:prstGeom>
        </p:spPr>
      </p:pic>
      <p:sp>
        <p:nvSpPr>
          <p:cNvPr id="31" name="Feature title 6"/>
          <p:cNvSpPr txBox="1"/>
          <p:nvPr/>
        </p:nvSpPr>
        <p:spPr>
          <a:xfrm>
            <a:off x="6949440" y="3063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Digital Ticket</a:t>
            </a:r>
            <a:endParaRPr lang="en-US" sz="1600" dirty="0"/>
          </a:p>
        </p:txBody>
      </p:sp>
      <p:sp>
        <p:nvSpPr>
          <p:cNvPr id="32" name="Feature text 6"/>
          <p:cNvSpPr txBox="1"/>
          <p:nvPr/>
        </p:nvSpPr>
        <p:spPr>
          <a:xfrm>
            <a:off x="6309360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Unique PNR number for every booking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Two roles, two views</a:t>
            </a:r>
            <a:endParaRPr lang="en-US" sz="3000" dirty="0"/>
          </a:p>
        </p:txBody>
      </p:sp>
      <p:sp>
        <p:nvSpPr>
          <p:cNvPr id="3" name="Passenger card"/>
          <p:cNvSpPr/>
          <p:nvPr/>
        </p:nvSpPr>
        <p:spPr>
          <a:xfrm>
            <a:off x="457200" y="1234440"/>
            <a:ext cx="3931920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4" name="Passenger circle"/>
          <p:cNvSpPr/>
          <p:nvPr/>
        </p:nvSpPr>
        <p:spPr>
          <a:xfrm>
            <a:off x="73152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assenger icon" descr="Fa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577340"/>
            <a:ext cx="320040" cy="320040"/>
          </a:xfrm>
          <a:prstGeom prst="rect">
            <a:avLst/>
          </a:prstGeom>
        </p:spPr>
      </p:pic>
      <p:sp>
        <p:nvSpPr>
          <p:cNvPr id="6" name="Passenger heading"/>
          <p:cNvSpPr txBox="1"/>
          <p:nvPr/>
        </p:nvSpPr>
        <p:spPr>
          <a:xfrm>
            <a:off x="1554480" y="1417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Passenger</a:t>
            </a:r>
            <a:endParaRPr lang="en-US" sz="2400" dirty="0"/>
          </a:p>
        </p:txBody>
      </p:sp>
      <p:sp>
        <p:nvSpPr>
          <p:cNvPr id="7" name="Passenger list"/>
          <p:cNvSpPr txBox="1"/>
          <p:nvPr/>
        </p:nvSpPr>
        <p:spPr>
          <a:xfrm>
            <a:off x="777240" y="228600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Register and log in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Search flights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Book tickets and choose seats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View booking history</a:t>
            </a:r>
            <a:endParaRPr lang="en-US" sz="1600" dirty="0"/>
          </a:p>
        </p:txBody>
      </p:sp>
      <p:sp>
        <p:nvSpPr>
          <p:cNvPr id="8" name="Admin card"/>
          <p:cNvSpPr/>
          <p:nvPr/>
        </p:nvSpPr>
        <p:spPr>
          <a:xfrm>
            <a:off x="4754880" y="1234440"/>
            <a:ext cx="3931920" cy="2697480"/>
          </a:xfrm>
          <a:prstGeom prst="roundRect">
            <a:avLst>
              <a:gd name="adj" fmla="val 4068"/>
            </a:avLst>
          </a:prstGeom>
          <a:solidFill>
            <a:schemeClr val="tx2"/>
          </a:solidFill>
          <a:ln/>
        </p:spPr>
      </p:sp>
      <p:sp>
        <p:nvSpPr>
          <p:cNvPr id="9" name="Admin circle"/>
          <p:cNvSpPr/>
          <p:nvPr/>
        </p:nvSpPr>
        <p:spPr>
          <a:xfrm>
            <a:off x="5029200" y="1417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Admin icon" descr="FaUserShiel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220" y="1577340"/>
            <a:ext cx="320040" cy="320040"/>
          </a:xfrm>
          <a:prstGeom prst="rect">
            <a:avLst/>
          </a:prstGeom>
        </p:spPr>
      </p:pic>
      <p:sp>
        <p:nvSpPr>
          <p:cNvPr id="11" name="Admin heading"/>
          <p:cNvSpPr txBox="1"/>
          <p:nvPr/>
        </p:nvSpPr>
        <p:spPr>
          <a:xfrm>
            <a:off x="5852160" y="1417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Admin</a:t>
            </a:r>
            <a:endParaRPr lang="en-US" sz="2400" dirty="0"/>
          </a:p>
        </p:txBody>
      </p:sp>
      <p:sp>
        <p:nvSpPr>
          <p:cNvPr id="12" name="Admin list"/>
          <p:cNvSpPr txBox="1"/>
          <p:nvPr/>
        </p:nvSpPr>
        <p:spPr>
          <a:xfrm>
            <a:off x="5074920" y="228600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Add, update, remove flights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Manage schedules and seats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View all bookings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Generate reports</a:t>
            </a:r>
            <a:endParaRPr lang="en-US" sz="1600" dirty="0"/>
          </a:p>
        </p:txBody>
      </p:sp>
      <p:sp>
        <p:nvSpPr>
          <p:cNvPr id="13" name="RBAC note box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14" name="RBAC note"/>
          <p:cNvSpPr txBox="1"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Role-based access: each user sees only the features they need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a booking works</a:t>
            </a:r>
            <a:endParaRPr lang="en-US" sz="3000" dirty="0"/>
          </a:p>
        </p:txBody>
      </p:sp>
      <p:sp>
        <p:nvSpPr>
          <p:cNvPr id="3" name="Step 1 circle"/>
          <p:cNvSpPr/>
          <p:nvPr/>
        </p:nvSpPr>
        <p:spPr>
          <a:xfrm>
            <a:off x="914400" y="13258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tep 1 icon" descr="Fa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08760"/>
            <a:ext cx="365760" cy="365760"/>
          </a:xfrm>
          <a:prstGeom prst="rect">
            <a:avLst/>
          </a:prstGeom>
        </p:spPr>
      </p:pic>
      <p:sp>
        <p:nvSpPr>
          <p:cNvPr id="5" name="Step title 1"/>
          <p:cNvSpPr txBox="1"/>
          <p:nvPr/>
        </p:nvSpPr>
        <p:spPr>
          <a:xfrm>
            <a:off x="59436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1. Search</a:t>
            </a:r>
            <a:endParaRPr lang="en-US" sz="1600" dirty="0"/>
          </a:p>
        </p:txBody>
      </p:sp>
      <p:sp>
        <p:nvSpPr>
          <p:cNvPr id="6" name="Step text 1"/>
          <p:cNvSpPr txBox="1"/>
          <p:nvPr/>
        </p:nvSpPr>
        <p:spPr>
          <a:xfrm>
            <a:off x="594360" y="26060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 route and travel date</a:t>
            </a:r>
            <a:endParaRPr lang="en-US" sz="1400" dirty="0"/>
          </a:p>
        </p:txBody>
      </p:sp>
      <p:sp>
        <p:nvSpPr>
          <p:cNvPr id="7" name="Flow arrow 1"/>
          <p:cNvSpPr/>
          <p:nvPr/>
        </p:nvSpPr>
        <p:spPr>
          <a:xfrm>
            <a:off x="1691640" y="169164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8" name="Step 2 circle"/>
          <p:cNvSpPr/>
          <p:nvPr/>
        </p:nvSpPr>
        <p:spPr>
          <a:xfrm>
            <a:off x="2560320" y="13258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Step 2 icon" descr="FaPla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508760"/>
            <a:ext cx="365760" cy="365760"/>
          </a:xfrm>
          <a:prstGeom prst="rect">
            <a:avLst/>
          </a:prstGeom>
        </p:spPr>
      </p:pic>
      <p:sp>
        <p:nvSpPr>
          <p:cNvPr id="10" name="Step title 2"/>
          <p:cNvSpPr txBox="1"/>
          <p:nvPr/>
        </p:nvSpPr>
        <p:spPr>
          <a:xfrm>
            <a:off x="224028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2. Select</a:t>
            </a:r>
            <a:endParaRPr lang="en-US" sz="1600" dirty="0"/>
          </a:p>
        </p:txBody>
      </p:sp>
      <p:sp>
        <p:nvSpPr>
          <p:cNvPr id="11" name="Step text 2"/>
          <p:cNvSpPr txBox="1"/>
          <p:nvPr/>
        </p:nvSpPr>
        <p:spPr>
          <a:xfrm>
            <a:off x="2240280" y="26060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Choose a flight with free seats</a:t>
            </a:r>
            <a:endParaRPr lang="en-US" sz="1400" dirty="0"/>
          </a:p>
        </p:txBody>
      </p:sp>
      <p:sp>
        <p:nvSpPr>
          <p:cNvPr id="12" name="Flow arrow 2"/>
          <p:cNvSpPr/>
          <p:nvPr/>
        </p:nvSpPr>
        <p:spPr>
          <a:xfrm>
            <a:off x="3337560" y="169164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Step 3 circle"/>
          <p:cNvSpPr/>
          <p:nvPr/>
        </p:nvSpPr>
        <p:spPr>
          <a:xfrm>
            <a:off x="4206240" y="13258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Step 3 icon" descr="FaUs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08760"/>
            <a:ext cx="365760" cy="365760"/>
          </a:xfrm>
          <a:prstGeom prst="rect">
            <a:avLst/>
          </a:prstGeom>
        </p:spPr>
      </p:pic>
      <p:sp>
        <p:nvSpPr>
          <p:cNvPr id="15" name="Step title 3"/>
          <p:cNvSpPr txBox="1"/>
          <p:nvPr/>
        </p:nvSpPr>
        <p:spPr>
          <a:xfrm>
            <a:off x="388620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3. Details</a:t>
            </a:r>
            <a:endParaRPr lang="en-US" sz="1600" dirty="0"/>
          </a:p>
        </p:txBody>
      </p:sp>
      <p:sp>
        <p:nvSpPr>
          <p:cNvPr id="16" name="Step text 3"/>
          <p:cNvSpPr txBox="1"/>
          <p:nvPr/>
        </p:nvSpPr>
        <p:spPr>
          <a:xfrm>
            <a:off x="3886200" y="26060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Enter passenger details, pick a seat</a:t>
            </a:r>
            <a:endParaRPr lang="en-US" sz="1400" dirty="0"/>
          </a:p>
        </p:txBody>
      </p:sp>
      <p:sp>
        <p:nvSpPr>
          <p:cNvPr id="17" name="Flow arrow 3"/>
          <p:cNvSpPr/>
          <p:nvPr/>
        </p:nvSpPr>
        <p:spPr>
          <a:xfrm>
            <a:off x="4983480" y="169164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8" name="Step 4 circle"/>
          <p:cNvSpPr/>
          <p:nvPr/>
        </p:nvSpPr>
        <p:spPr>
          <a:xfrm>
            <a:off x="5852160" y="13258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Step 4 icon" descr="FaCreditCa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508760"/>
            <a:ext cx="365760" cy="365760"/>
          </a:xfrm>
          <a:prstGeom prst="rect">
            <a:avLst/>
          </a:prstGeom>
        </p:spPr>
      </p:pic>
      <p:sp>
        <p:nvSpPr>
          <p:cNvPr id="20" name="Step title 4"/>
          <p:cNvSpPr txBox="1"/>
          <p:nvPr/>
        </p:nvSpPr>
        <p:spPr>
          <a:xfrm>
            <a:off x="553212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4. Pay</a:t>
            </a:r>
            <a:endParaRPr lang="en-US" sz="1600" dirty="0"/>
          </a:p>
        </p:txBody>
      </p:sp>
      <p:sp>
        <p:nvSpPr>
          <p:cNvPr id="21" name="Step text 4"/>
          <p:cNvSpPr txBox="1"/>
          <p:nvPr/>
        </p:nvSpPr>
        <p:spPr>
          <a:xfrm>
            <a:off x="5532120" y="26060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Pay the ticket amount</a:t>
            </a:r>
            <a:endParaRPr lang="en-US" sz="1400" dirty="0"/>
          </a:p>
        </p:txBody>
      </p:sp>
      <p:sp>
        <p:nvSpPr>
          <p:cNvPr id="22" name="Flow arrow 4"/>
          <p:cNvSpPr/>
          <p:nvPr/>
        </p:nvSpPr>
        <p:spPr>
          <a:xfrm>
            <a:off x="6629400" y="169164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3" name="Step 5 circle"/>
          <p:cNvSpPr/>
          <p:nvPr/>
        </p:nvSpPr>
        <p:spPr>
          <a:xfrm>
            <a:off x="7498080" y="13258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Step 5 icon" descr="FaTicketAl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1508760"/>
            <a:ext cx="365760" cy="365760"/>
          </a:xfrm>
          <a:prstGeom prst="rect">
            <a:avLst/>
          </a:prstGeom>
        </p:spPr>
      </p:pic>
      <p:sp>
        <p:nvSpPr>
          <p:cNvPr id="25" name="Step title 5"/>
          <p:cNvSpPr txBox="1"/>
          <p:nvPr/>
        </p:nvSpPr>
        <p:spPr>
          <a:xfrm>
            <a:off x="717804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5. Ticket</a:t>
            </a:r>
            <a:endParaRPr lang="en-US" sz="1600" dirty="0"/>
          </a:p>
        </p:txBody>
      </p:sp>
      <p:sp>
        <p:nvSpPr>
          <p:cNvPr id="26" name="Step text 5"/>
          <p:cNvSpPr txBox="1"/>
          <p:nvPr/>
        </p:nvSpPr>
        <p:spPr>
          <a:xfrm>
            <a:off x="7178040" y="26060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Get confirmation and a PNR</a:t>
            </a:r>
            <a:endParaRPr lang="en-US" sz="1400" dirty="0"/>
          </a:p>
        </p:txBody>
      </p:sp>
      <p:sp>
        <p:nvSpPr>
          <p:cNvPr id="27" name="Seat note box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28" name="Seat note circle"/>
          <p:cNvSpPr/>
          <p:nvPr/>
        </p:nvSpPr>
        <p:spPr>
          <a:xfrm>
            <a:off x="685800" y="38862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Seat note icon" descr="FaChai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30" y="4011930"/>
            <a:ext cx="251460" cy="251460"/>
          </a:xfrm>
          <a:prstGeom prst="rect">
            <a:avLst/>
          </a:prstGeom>
        </p:spPr>
      </p:pic>
      <p:sp>
        <p:nvSpPr>
          <p:cNvPr id="30" name="Seat note text"/>
          <p:cNvSpPr txBox="1"/>
          <p:nvPr/>
        </p:nvSpPr>
        <p:spPr>
          <a:xfrm>
            <a:off x="1371600" y="37490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Seat count updates automatically after every booking, so there is no double booking.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Technology and code</a:t>
            </a:r>
            <a:endParaRPr lang="en-US" sz="3000" dirty="0"/>
          </a:p>
        </p:txBody>
      </p:sp>
      <p:sp>
        <p:nvSpPr>
          <p:cNvPr id="3" name="Stack card 1"/>
          <p:cNvSpPr/>
          <p:nvPr/>
        </p:nvSpPr>
        <p:spPr>
          <a:xfrm>
            <a:off x="457200" y="1280160"/>
            <a:ext cx="38404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4" name="Stack 1 circle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tack 1 icon" descr="FaDesk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588770"/>
            <a:ext cx="251460" cy="251460"/>
          </a:xfrm>
          <a:prstGeom prst="rect">
            <a:avLst/>
          </a:prstGeom>
        </p:spPr>
      </p:pic>
      <p:sp>
        <p:nvSpPr>
          <p:cNvPr id="6" name="Stack title 1"/>
          <p:cNvSpPr txBox="1"/>
          <p:nvPr/>
        </p:nvSpPr>
        <p:spPr>
          <a:xfrm>
            <a:off x="1325880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Frontend</a:t>
            </a:r>
            <a:endParaRPr lang="en-US" sz="1600" dirty="0"/>
          </a:p>
        </p:txBody>
      </p:sp>
      <p:sp>
        <p:nvSpPr>
          <p:cNvPr id="7" name="Stack text 1"/>
          <p:cNvSpPr txBox="1"/>
          <p:nvPr/>
        </p:nvSpPr>
        <p:spPr>
          <a:xfrm>
            <a:off x="1325880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HTML, CSS, JavaScript</a:t>
            </a:r>
            <a:endParaRPr lang="en-US" sz="1400" dirty="0"/>
          </a:p>
        </p:txBody>
      </p:sp>
      <p:sp>
        <p:nvSpPr>
          <p:cNvPr id="8" name="Stack card 2"/>
          <p:cNvSpPr/>
          <p:nvPr/>
        </p:nvSpPr>
        <p:spPr>
          <a:xfrm>
            <a:off x="457200" y="2331720"/>
            <a:ext cx="38404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9" name="Stack 2 circle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Stack 2 icon" descr="Fa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" y="2640330"/>
            <a:ext cx="251460" cy="251460"/>
          </a:xfrm>
          <a:prstGeom prst="rect">
            <a:avLst/>
          </a:prstGeom>
        </p:spPr>
      </p:pic>
      <p:sp>
        <p:nvSpPr>
          <p:cNvPr id="11" name="Stack title 2"/>
          <p:cNvSpPr txBox="1"/>
          <p:nvPr/>
        </p:nvSpPr>
        <p:spPr>
          <a:xfrm>
            <a:off x="1325880" y="2468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Backend</a:t>
            </a:r>
            <a:endParaRPr lang="en-US" sz="1600" dirty="0"/>
          </a:p>
        </p:txBody>
      </p:sp>
      <p:sp>
        <p:nvSpPr>
          <p:cNvPr id="12" name="Stack text 2"/>
          <p:cNvSpPr txBox="1"/>
          <p:nvPr/>
        </p:nvSpPr>
        <p:spPr>
          <a:xfrm>
            <a:off x="1325880" y="2788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Node.js + Express (REST APIs)</a:t>
            </a:r>
            <a:endParaRPr lang="en-US" sz="1400" dirty="0"/>
          </a:p>
        </p:txBody>
      </p:sp>
      <p:sp>
        <p:nvSpPr>
          <p:cNvPr id="13" name="Stack card 3"/>
          <p:cNvSpPr/>
          <p:nvPr/>
        </p:nvSpPr>
        <p:spPr>
          <a:xfrm>
            <a:off x="457200" y="3383280"/>
            <a:ext cx="38404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4" name="Stack 3 circle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Stack 3 icon" descr="Fa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3691890"/>
            <a:ext cx="251460" cy="251460"/>
          </a:xfrm>
          <a:prstGeom prst="rect">
            <a:avLst/>
          </a:prstGeom>
        </p:spPr>
      </p:pic>
      <p:sp>
        <p:nvSpPr>
          <p:cNvPr id="16" name="Stack title 3"/>
          <p:cNvSpPr txBox="1"/>
          <p:nvPr/>
        </p:nvSpPr>
        <p:spPr>
          <a:xfrm>
            <a:off x="1325880" y="3520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Database</a:t>
            </a:r>
            <a:endParaRPr lang="en-US" sz="1600" dirty="0"/>
          </a:p>
        </p:txBody>
      </p:sp>
      <p:sp>
        <p:nvSpPr>
          <p:cNvPr id="17" name="Stack text 3"/>
          <p:cNvSpPr txBox="1"/>
          <p:nvPr/>
        </p:nvSpPr>
        <p:spPr>
          <a:xfrm>
            <a:off x="1325880" y="3840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MongoDB with Mongoose</a:t>
            </a:r>
            <a:endParaRPr lang="en-US" sz="1400" dirty="0"/>
          </a:p>
        </p:txBody>
      </p:sp>
      <p:sp>
        <p:nvSpPr>
          <p:cNvPr id="18" name="Code panel"/>
          <p:cNvSpPr/>
          <p:nvPr/>
        </p:nvSpPr>
        <p:spPr>
          <a:xfrm>
            <a:off x="4663440" y="1280160"/>
            <a:ext cx="4023360" cy="301752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/>
        </p:spPr>
      </p:sp>
      <p:sp>
        <p:nvSpPr>
          <p:cNvPr id="19" name="Code panel title"/>
          <p:cNvSpPr txBox="1"/>
          <p:nvPr/>
        </p:nvSpPr>
        <p:spPr>
          <a:xfrm>
            <a:off x="493776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API routes</a:t>
            </a:r>
            <a:endParaRPr lang="en-US" sz="1600" dirty="0"/>
          </a:p>
        </p:txBody>
      </p:sp>
      <p:sp>
        <p:nvSpPr>
          <p:cNvPr id="20" name="Route 1"/>
          <p:cNvSpPr txBox="1"/>
          <p:nvPr/>
        </p:nvSpPr>
        <p:spPr>
          <a:xfrm>
            <a:off x="493776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/login</a:t>
            </a:r>
            <a:endParaRPr lang="en-US" sz="1300" dirty="0"/>
          </a:p>
        </p:txBody>
      </p:sp>
      <p:sp>
        <p:nvSpPr>
          <p:cNvPr id="21" name="Route purpose 1"/>
          <p:cNvSpPr txBox="1"/>
          <p:nvPr/>
        </p:nvSpPr>
        <p:spPr>
          <a:xfrm>
            <a:off x="676656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Sign in</a:t>
            </a:r>
            <a:endParaRPr lang="en-US" sz="1400" dirty="0"/>
          </a:p>
        </p:txBody>
      </p:sp>
      <p:sp>
        <p:nvSpPr>
          <p:cNvPr id="22" name="Route 2"/>
          <p:cNvSpPr txBox="1"/>
          <p:nvPr/>
        </p:nvSpPr>
        <p:spPr>
          <a:xfrm>
            <a:off x="4937760" y="2304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/flights</a:t>
            </a:r>
            <a:endParaRPr lang="en-US" sz="1300" dirty="0"/>
          </a:p>
        </p:txBody>
      </p:sp>
      <p:sp>
        <p:nvSpPr>
          <p:cNvPr id="23" name="Route purpose 2"/>
          <p:cNvSpPr txBox="1"/>
          <p:nvPr/>
        </p:nvSpPr>
        <p:spPr>
          <a:xfrm>
            <a:off x="6766560" y="23042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Search flights</a:t>
            </a:r>
            <a:endParaRPr lang="en-US" sz="1400" dirty="0"/>
          </a:p>
        </p:txBody>
      </p:sp>
      <p:sp>
        <p:nvSpPr>
          <p:cNvPr id="24" name="Route 3"/>
          <p:cNvSpPr txBox="1"/>
          <p:nvPr/>
        </p:nvSpPr>
        <p:spPr>
          <a:xfrm>
            <a:off x="4937760" y="268833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/seats/:id</a:t>
            </a:r>
            <a:endParaRPr lang="en-US" sz="1300" dirty="0"/>
          </a:p>
        </p:txBody>
      </p:sp>
      <p:sp>
        <p:nvSpPr>
          <p:cNvPr id="25" name="Route purpose 3"/>
          <p:cNvSpPr txBox="1"/>
          <p:nvPr/>
        </p:nvSpPr>
        <p:spPr>
          <a:xfrm>
            <a:off x="6766560" y="26883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Check seats</a:t>
            </a:r>
            <a:endParaRPr lang="en-US" sz="1400" dirty="0"/>
          </a:p>
        </p:txBody>
      </p:sp>
      <p:sp>
        <p:nvSpPr>
          <p:cNvPr id="26" name="Route 4"/>
          <p:cNvSpPr txBox="1"/>
          <p:nvPr/>
        </p:nvSpPr>
        <p:spPr>
          <a:xfrm>
            <a:off x="4937760" y="30723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/booking</a:t>
            </a:r>
            <a:endParaRPr lang="en-US" sz="1300" dirty="0"/>
          </a:p>
        </p:txBody>
      </p:sp>
      <p:sp>
        <p:nvSpPr>
          <p:cNvPr id="27" name="Route purpose 4"/>
          <p:cNvSpPr txBox="1"/>
          <p:nvPr/>
        </p:nvSpPr>
        <p:spPr>
          <a:xfrm>
            <a:off x="6766560" y="30723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Book ticket</a:t>
            </a:r>
            <a:endParaRPr lang="en-US" sz="1400" dirty="0"/>
          </a:p>
        </p:txBody>
      </p:sp>
      <p:sp>
        <p:nvSpPr>
          <p:cNvPr id="28" name="Route 5"/>
          <p:cNvSpPr txBox="1"/>
          <p:nvPr/>
        </p:nvSpPr>
        <p:spPr>
          <a:xfrm>
            <a:off x="4937760" y="34564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/payment</a:t>
            </a:r>
            <a:endParaRPr lang="en-US" sz="1300" dirty="0"/>
          </a:p>
        </p:txBody>
      </p:sp>
      <p:sp>
        <p:nvSpPr>
          <p:cNvPr id="29" name="Route purpose 5"/>
          <p:cNvSpPr txBox="1"/>
          <p:nvPr/>
        </p:nvSpPr>
        <p:spPr>
          <a:xfrm>
            <a:off x="6766560" y="3456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Make payment</a:t>
            </a:r>
            <a:endParaRPr lang="en-US" sz="1400" dirty="0"/>
          </a:p>
        </p:txBody>
      </p:sp>
      <p:sp>
        <p:nvSpPr>
          <p:cNvPr id="30" name="Route 6"/>
          <p:cNvSpPr txBox="1"/>
          <p:nvPr/>
        </p:nvSpPr>
        <p:spPr>
          <a:xfrm>
            <a:off x="4937760" y="3840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/flight</a:t>
            </a:r>
            <a:endParaRPr lang="en-US" sz="1300" dirty="0"/>
          </a:p>
        </p:txBody>
      </p:sp>
      <p:sp>
        <p:nvSpPr>
          <p:cNvPr id="31" name="Route purpose 6"/>
          <p:cNvSpPr txBox="1"/>
          <p:nvPr/>
        </p:nvSpPr>
        <p:spPr>
          <a:xfrm>
            <a:off x="676656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Add flight (admin)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Output and testing</a:t>
            </a:r>
            <a:endParaRPr lang="en-US" sz="3000" dirty="0"/>
          </a:p>
        </p:txBody>
      </p:sp>
      <p:sp>
        <p:nvSpPr>
          <p:cNvPr id="3" name="Stat number 1"/>
          <p:cNvSpPr txBox="1"/>
          <p:nvPr/>
        </p:nvSpPr>
        <p:spPr>
          <a:xfrm>
            <a:off x="457200" y="128016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3</a:t>
            </a:r>
            <a:endParaRPr lang="en-US" sz="4800" dirty="0"/>
          </a:p>
        </p:txBody>
      </p:sp>
      <p:sp>
        <p:nvSpPr>
          <p:cNvPr id="4" name="Stat label 1"/>
          <p:cNvSpPr txBox="1"/>
          <p:nvPr/>
        </p:nvSpPr>
        <p:spPr>
          <a:xfrm>
            <a:off x="1737360" y="12801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portals: Passenger, Admin and Customer Service</a:t>
            </a:r>
            <a:endParaRPr lang="en-US" sz="1400" dirty="0"/>
          </a:p>
        </p:txBody>
      </p:sp>
      <p:sp>
        <p:nvSpPr>
          <p:cNvPr id="5" name="Stat number 2"/>
          <p:cNvSpPr txBox="1"/>
          <p:nvPr/>
        </p:nvSpPr>
        <p:spPr>
          <a:xfrm>
            <a:off x="457200" y="23317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6</a:t>
            </a:r>
            <a:endParaRPr lang="en-US" sz="4800" dirty="0"/>
          </a:p>
        </p:txBody>
      </p:sp>
      <p:sp>
        <p:nvSpPr>
          <p:cNvPr id="6" name="Stat label 2"/>
          <p:cNvSpPr txBox="1"/>
          <p:nvPr/>
        </p:nvSpPr>
        <p:spPr>
          <a:xfrm>
            <a:off x="1737360" y="23317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core modules built and connected</a:t>
            </a:r>
            <a:endParaRPr lang="en-US" sz="1400" dirty="0"/>
          </a:p>
        </p:txBody>
      </p:sp>
      <p:sp>
        <p:nvSpPr>
          <p:cNvPr id="7" name="Stat number 3"/>
          <p:cNvSpPr txBox="1"/>
          <p:nvPr/>
        </p:nvSpPr>
        <p:spPr>
          <a:xfrm>
            <a:off x="457200" y="338328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30</a:t>
            </a:r>
            <a:endParaRPr lang="en-US" sz="4800" dirty="0"/>
          </a:p>
        </p:txBody>
      </p:sp>
      <p:sp>
        <p:nvSpPr>
          <p:cNvPr id="8" name="Stat label 3"/>
          <p:cNvSpPr txBox="1"/>
          <p:nvPr/>
        </p:nvSpPr>
        <p:spPr>
          <a:xfrm>
            <a:off x="1737360" y="33832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days from idea to working system</a:t>
            </a:r>
            <a:endParaRPr lang="en-US" sz="1400" dirty="0"/>
          </a:p>
        </p:txBody>
      </p:sp>
      <p:sp>
        <p:nvSpPr>
          <p:cNvPr id="9" name="Tested panel"/>
          <p:cNvSpPr/>
          <p:nvPr/>
        </p:nvSpPr>
        <p:spPr>
          <a:xfrm>
            <a:off x="4663440" y="1280160"/>
            <a:ext cx="40233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0" name="Tested title"/>
          <p:cNvSpPr txBox="1"/>
          <p:nvPr/>
        </p:nvSpPr>
        <p:spPr>
          <a:xfrm>
            <a:off x="493776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Tested and working</a:t>
            </a:r>
            <a:endParaRPr lang="en-US" sz="1800" dirty="0"/>
          </a:p>
        </p:txBody>
      </p:sp>
      <p:pic>
        <p:nvPicPr>
          <p:cNvPr id="11" name="Check 1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020824"/>
            <a:ext cx="256032" cy="256032"/>
          </a:xfrm>
          <a:prstGeom prst="rect">
            <a:avLst/>
          </a:prstGeom>
        </p:spPr>
      </p:pic>
      <p:sp>
        <p:nvSpPr>
          <p:cNvPr id="12" name="Test item 1"/>
          <p:cNvSpPr txBox="1"/>
          <p:nvPr/>
        </p:nvSpPr>
        <p:spPr>
          <a:xfrm>
            <a:off x="534924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Login and registration</a:t>
            </a:r>
            <a:endParaRPr lang="en-US" sz="1400" dirty="0"/>
          </a:p>
        </p:txBody>
      </p:sp>
      <p:pic>
        <p:nvPicPr>
          <p:cNvPr id="13" name="Check 2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478024"/>
            <a:ext cx="256032" cy="256032"/>
          </a:xfrm>
          <a:prstGeom prst="rect">
            <a:avLst/>
          </a:prstGeom>
        </p:spPr>
      </p:pic>
      <p:sp>
        <p:nvSpPr>
          <p:cNvPr id="14" name="Test item 2"/>
          <p:cNvSpPr txBox="1"/>
          <p:nvPr/>
        </p:nvSpPr>
        <p:spPr>
          <a:xfrm>
            <a:off x="534924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Flight search and seat check</a:t>
            </a:r>
            <a:endParaRPr lang="en-US" sz="1400" dirty="0"/>
          </a:p>
        </p:txBody>
      </p:sp>
      <p:pic>
        <p:nvPicPr>
          <p:cNvPr id="15" name="Check 3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935224"/>
            <a:ext cx="256032" cy="256032"/>
          </a:xfrm>
          <a:prstGeom prst="rect">
            <a:avLst/>
          </a:prstGeom>
        </p:spPr>
      </p:pic>
      <p:sp>
        <p:nvSpPr>
          <p:cNvPr id="16" name="Test item 3"/>
          <p:cNvSpPr txBox="1"/>
          <p:nvPr/>
        </p:nvSpPr>
        <p:spPr>
          <a:xfrm>
            <a:off x="534924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Booking, payment and PNR ticket</a:t>
            </a:r>
            <a:endParaRPr lang="en-US" sz="1400" dirty="0"/>
          </a:p>
        </p:txBody>
      </p:sp>
      <p:pic>
        <p:nvPicPr>
          <p:cNvPr id="17" name="Check 4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392424"/>
            <a:ext cx="256032" cy="256032"/>
          </a:xfrm>
          <a:prstGeom prst="rect">
            <a:avLst/>
          </a:prstGeom>
        </p:spPr>
      </p:pic>
      <p:sp>
        <p:nvSpPr>
          <p:cNvPr id="18" name="Test item 4"/>
          <p:cNvSpPr txBox="1"/>
          <p:nvPr/>
        </p:nvSpPr>
        <p:spPr>
          <a:xfrm>
            <a:off x="534924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Admin dashboard</a:t>
            </a:r>
            <a:endParaRPr lang="en-US" sz="1400" dirty="0"/>
          </a:p>
        </p:txBody>
      </p:sp>
      <p:pic>
        <p:nvPicPr>
          <p:cNvPr id="19" name="Check 5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849624"/>
            <a:ext cx="256032" cy="256032"/>
          </a:xfrm>
          <a:prstGeom prst="rect">
            <a:avLst/>
          </a:prstGeom>
        </p:spPr>
      </p:pic>
      <p:sp>
        <p:nvSpPr>
          <p:cNvPr id="20" name="Test item 5"/>
          <p:cNvSpPr txBox="1"/>
          <p:nvPr/>
        </p:nvSpPr>
        <p:spPr>
          <a:xfrm>
            <a:off x="534924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Error handling for bad input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 and future work</a:t>
            </a:r>
            <a:endParaRPr lang="en-US" sz="3000" dirty="0"/>
          </a:p>
        </p:txBody>
      </p:sp>
      <p:sp>
        <p:nvSpPr>
          <p:cNvPr id="3" name="Conclusion heading"/>
          <p:cNvSpPr txBox="1"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4" name="Conclusion list"/>
          <p:cNvSpPr txBox="1"/>
          <p:nvPr/>
        </p:nvSpPr>
        <p:spPr>
          <a:xfrm>
            <a:off x="457200" y="17830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Automates flight booking from search to ticket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Fewer errors and no double booking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Gave hands-on web, database and testing experience</a:t>
            </a:r>
            <a:endParaRPr lang="en-US" sz="1600" dirty="0"/>
          </a:p>
        </p:txBody>
      </p:sp>
      <p:sp>
        <p:nvSpPr>
          <p:cNvPr id="5" name="Thank you"/>
          <p:cNvSpPr txBox="1"/>
          <p:nvPr/>
        </p:nvSpPr>
        <p:spPr>
          <a:xfrm>
            <a:off x="457200" y="3931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Thank you!</a:t>
            </a:r>
            <a:endParaRPr lang="en-US" sz="3000" dirty="0"/>
          </a:p>
        </p:txBody>
      </p:sp>
      <p:sp>
        <p:nvSpPr>
          <p:cNvPr id="6" name="Future heading"/>
          <p:cNvSpPr txBox="1"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Future work</a:t>
            </a:r>
            <a:endParaRPr lang="en-US" sz="1800" dirty="0"/>
          </a:p>
        </p:txBody>
      </p:sp>
      <p:sp>
        <p:nvSpPr>
          <p:cNvPr id="7" name="Future 1 circle"/>
          <p:cNvSpPr/>
          <p:nvPr/>
        </p:nvSpPr>
        <p:spPr>
          <a:xfrm>
            <a:off x="4754880" y="17830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Future 1 icon" descr="FaMob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750" y="1885950"/>
            <a:ext cx="205740" cy="205740"/>
          </a:xfrm>
          <a:prstGeom prst="rect">
            <a:avLst/>
          </a:prstGeom>
        </p:spPr>
      </p:pic>
      <p:sp>
        <p:nvSpPr>
          <p:cNvPr id="9" name="Future item 1"/>
          <p:cNvSpPr txBox="1"/>
          <p:nvPr/>
        </p:nvSpPr>
        <p:spPr>
          <a:xfrm>
            <a:off x="5349240" y="1783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Mobile app</a:t>
            </a:r>
            <a:endParaRPr lang="en-US" sz="1600" dirty="0"/>
          </a:p>
        </p:txBody>
      </p:sp>
      <p:sp>
        <p:nvSpPr>
          <p:cNvPr id="10" name="Future 2 circle"/>
          <p:cNvSpPr/>
          <p:nvPr/>
        </p:nvSpPr>
        <p:spPr>
          <a:xfrm>
            <a:off x="4754880" y="235000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Future 2 icon" descr="FaCreditC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2452878"/>
            <a:ext cx="205740" cy="205740"/>
          </a:xfrm>
          <a:prstGeom prst="rect">
            <a:avLst/>
          </a:prstGeom>
        </p:spPr>
      </p:pic>
      <p:sp>
        <p:nvSpPr>
          <p:cNvPr id="12" name="Future item 2"/>
          <p:cNvSpPr txBox="1"/>
          <p:nvPr/>
        </p:nvSpPr>
        <p:spPr>
          <a:xfrm>
            <a:off x="5349240" y="23500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Online payment gateway</a:t>
            </a:r>
            <a:endParaRPr lang="en-US" sz="1600" dirty="0"/>
          </a:p>
        </p:txBody>
      </p:sp>
      <p:sp>
        <p:nvSpPr>
          <p:cNvPr id="13" name="Future 3 circle"/>
          <p:cNvSpPr/>
          <p:nvPr/>
        </p:nvSpPr>
        <p:spPr>
          <a:xfrm>
            <a:off x="4754880" y="2916936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Future 3 icon" descr="FaQr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3019806"/>
            <a:ext cx="205740" cy="205740"/>
          </a:xfrm>
          <a:prstGeom prst="rect">
            <a:avLst/>
          </a:prstGeom>
        </p:spPr>
      </p:pic>
      <p:sp>
        <p:nvSpPr>
          <p:cNvPr id="15" name="Future item 3"/>
          <p:cNvSpPr txBox="1"/>
          <p:nvPr/>
        </p:nvSpPr>
        <p:spPr>
          <a:xfrm>
            <a:off x="5349240" y="291693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E-ticket with QR code</a:t>
            </a:r>
            <a:endParaRPr lang="en-US" sz="1600" dirty="0"/>
          </a:p>
        </p:txBody>
      </p:sp>
      <p:sp>
        <p:nvSpPr>
          <p:cNvPr id="16" name="Future 4 circle"/>
          <p:cNvSpPr/>
          <p:nvPr/>
        </p:nvSpPr>
        <p:spPr>
          <a:xfrm>
            <a:off x="4754880" y="3483864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Future 4 icon" descr="FaSync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3586734"/>
            <a:ext cx="205740" cy="205740"/>
          </a:xfrm>
          <a:prstGeom prst="rect">
            <a:avLst/>
          </a:prstGeom>
        </p:spPr>
      </p:pic>
      <p:sp>
        <p:nvSpPr>
          <p:cNvPr id="18" name="Future item 4"/>
          <p:cNvSpPr txBox="1"/>
          <p:nvPr/>
        </p:nvSpPr>
        <p:spPr>
          <a:xfrm>
            <a:off x="5349240" y="348386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Real-time flight updates</a:t>
            </a:r>
            <a:endParaRPr lang="en-US" sz="1600" dirty="0"/>
          </a:p>
        </p:txBody>
      </p:sp>
      <p:sp>
        <p:nvSpPr>
          <p:cNvPr id="19" name="Future 5 circle"/>
          <p:cNvSpPr/>
          <p:nvPr/>
        </p:nvSpPr>
        <p:spPr>
          <a:xfrm>
            <a:off x="4754880" y="4050792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Future 5 icon" descr="FaBel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4153662"/>
            <a:ext cx="205740" cy="205740"/>
          </a:xfrm>
          <a:prstGeom prst="rect">
            <a:avLst/>
          </a:prstGeom>
        </p:spPr>
      </p:pic>
      <p:sp>
        <p:nvSpPr>
          <p:cNvPr id="21" name="Future item 5"/>
          <p:cNvSpPr txBox="1"/>
          <p:nvPr/>
        </p:nvSpPr>
        <p:spPr>
          <a:xfrm>
            <a:off x="5349240" y="40507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Email and SMS alerts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y Aviation">
  <a:themeElements>
    <a:clrScheme name="Sky Aviation">
      <a:dk1>
        <a:srgbClr val="1B2A41"/>
      </a:dk1>
      <a:lt1>
        <a:srgbClr val="FFFFFF"/>
      </a:lt1>
      <a:dk2>
        <a:srgbClr val="0B3C6F"/>
      </a:dk2>
      <a:lt2>
        <a:srgbClr val="EAF4FC"/>
      </a:lt2>
      <a:accent1>
        <a:srgbClr val="1E88E5"/>
      </a:accent1>
      <a:accent2>
        <a:srgbClr val="F5A623"/>
      </a:accent2>
      <a:accent3>
        <a:srgbClr val="00A6A6"/>
      </a:accent3>
      <a:accent4>
        <a:srgbClr val="6C8EBF"/>
      </a:accent4>
      <a:accent5>
        <a:srgbClr val="E4572E"/>
      </a:accent5>
      <a:accent6>
        <a:srgbClr val="2E8B57"/>
      </a:accent6>
      <a:hlink>
        <a:srgbClr val="1E88E5"/>
      </a:hlink>
      <a:folHlink>
        <a:srgbClr val="6C8EBF"/>
      </a:folHlink>
    </a:clrScheme>
    <a:fontScheme name="Sky Avi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Ticket Reservation System</dc:title>
  <dc:subject>PptxGenJS Presentation</dc:subject>
  <dc:creator>Akshaya Sivan</dc:creator>
  <cp:lastModifiedBy>Akshaya Sivan</cp:lastModifiedBy>
  <cp:revision>1</cp:revision>
  <dcterms:created xsi:type="dcterms:W3CDTF">2026-10-21T16:41:49Z</dcterms:created>
  <dcterms:modified xsi:type="dcterms:W3CDTF">2026-10-21T16:41:49Z</dcterms:modified>
</cp:coreProperties>
</file>